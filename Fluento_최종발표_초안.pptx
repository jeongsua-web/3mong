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45720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B5CF6"/>
                </a:solidFill>
                <a:latin typeface="Apple SD Gothic Neo"/>
                <a:ea typeface="Apple SD Gothic Neo"/>
              </a:rPr>
              <a:t>최종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</a:rPr>
              <a:t>Fluento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Apple SD Gothic Neo"/>
                <a:ea typeface="Apple SD Gothic Neo"/>
              </a:rPr>
              <a:t>AI 친구와 대화하며 배우는 영어 회화 학습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7C5E8"/>
                </a:solidFill>
                <a:latin typeface="Apple SD Gothic Neo"/>
                <a:ea typeface="Apple SD Gothic Neo"/>
              </a:rPr>
              <a:t>팀명  ·  발표자 이름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7C5E8"/>
                </a:solidFill>
                <a:latin typeface="Apple SD Gothic Neo"/>
                <a:ea typeface="Apple SD Gothic Neo"/>
              </a:rPr>
              <a:t>2026. 06.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발표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6537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왜 AI 영어 회화인가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871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52374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Fluento가 제공하는 학습 경험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4553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4553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시스템 아키텍처 &amp; 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1821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AWS Bedrock · Cognito · EC2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0390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구현 상세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840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AI 대화 설계 · 레벨 평가 ·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6227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품질 검증 &amp; 트러블슈팅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498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E2E 72건 테스트와 버그 수정기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20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라이브 시연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15721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회원가입부터 오답노트까지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790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Apple SD Gothic Neo"/>
                <a:ea typeface="Apple SD Gothic Ne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7790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B4B"/>
                </a:solidFill>
                <a:latin typeface="Apple SD Gothic Neo"/>
                <a:ea typeface="Apple SD Gothic Neo"/>
              </a:rPr>
              <a:t>회고 &amp; 향후 계획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81558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01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왜 만들었나 — 영어 회화의 진짜 장벽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</a:rPr>
              <a:t>말할 상대가 없다.</a:t>
            </a:r>
            <a:r>
              <a:rPr sz="1700" b="0">
                <a:solidFill>
                  <a:srgbClr val="1E1B4B"/>
                </a:solidFill>
                <a:latin typeface="Apple SD Gothic Neo"/>
                <a:ea typeface="Apple SD Gothic Neo"/>
              </a:rPr>
              <a:t>  문법·단어 공부는 혼자 가능하지만, 회화는 "실제로 말해볼 상대"가 필요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</a:rPr>
              <a:t>기존 서비스의 한계.</a:t>
            </a:r>
            <a:r>
              <a:rPr sz="1700" b="0">
                <a:solidFill>
                  <a:srgbClr val="1E1B4B"/>
                </a:solidFill>
                <a:latin typeface="Apple SD Gothic Neo"/>
                <a:ea typeface="Apple SD Gothic Neo"/>
              </a:rPr>
              <a:t>  전화영어는 비싸고 예약이 필요, 단어 앱은 회화로 이어지지 않음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700" b="1">
                <a:solidFill>
                  <a:srgbClr val="1E1B4B"/>
                </a:solidFill>
                <a:latin typeface="Apple SD Gothic Neo"/>
                <a:ea typeface="Apple SD Gothic Neo"/>
              </a:rPr>
              <a:t>틀려도 부끄럽지 않은 상대.</a:t>
            </a:r>
            <a:r>
              <a:rPr sz="1700" b="0">
                <a:solidFill>
                  <a:srgbClr val="1E1B4B"/>
                </a:solidFill>
                <a:latin typeface="Apple SD Gothic Neo"/>
                <a:ea typeface="Apple SD Gothic Neo"/>
              </a:rPr>
              <a:t>  사람 앞에서는 실수가 두렵지만 AI 앞에서는 부담 없이 시도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10515600" cy="182880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352544"/>
            <a:ext cx="10113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F46E5"/>
                </a:solidFill>
                <a:latin typeface="Apple SD Gothic Neo"/>
                <a:ea typeface="Apple SD Gothic Neo"/>
              </a:rPr>
              <a:t>Fluento의 해법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773168"/>
            <a:ext cx="101132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</a:rPr>
              <a:t>AWS Bedrock(Claude) 기반 AI 친구와 24시간 영어로 대화하고, 대화 중 실수는 자동으로 오답노트에 쌓이며, 실력에 맞춰 대화 난이도가 조절되는 개인 맞춤 영어 회화 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02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핵심 기능 한눈에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AI 친구와 영어 채팅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Claude 3.5 Sonnet 기반, SSE 스트리밍으로 실시간 응답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7510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레벨 자동 평가·조절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39572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대화 내용을 분석해 사용자 실력에 맞게 난이도 자동 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97510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오답노트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39572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대화 중 틀린 표현을 AI가 감지해 자동 수집 → 복습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21538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오늘의 목표 &amp;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63600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학습 시간·암기 단어·연속 학습일 자동 추적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0690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21538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커스텀 AI 친구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63600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성격·말투를 직접 설정한 나만의 대화 상대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06908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4215384"/>
            <a:ext cx="31638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소셜 로그인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4636008"/>
            <a:ext cx="316382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</a:rPr>
              <a:t>Google 계정으로 간편하게 시작 (Cognito 페더레이션)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03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920240" cy="100584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Web Browser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2514600"/>
            <a:ext cx="50292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2374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React + Vite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2120" y="2514600"/>
            <a:ext cx="50292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2103120"/>
            <a:ext cx="2377440" cy="100584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762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237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Spring Boot 4 · WebFlux SSE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95360" y="2514600"/>
            <a:ext cx="50292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2103120"/>
            <a:ext cx="2286000" cy="1005840"/>
          </a:xfrm>
          <a:prstGeom prst="roundRect">
            <a:avLst>
              <a:gd name="adj" fmla="val 1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76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AWS Bedrock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2374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Claude 3.5 Sonnet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749039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822191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</a:rPr>
              <a:t>AWS Cognito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169663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1E1B4B"/>
                </a:solidFill>
                <a:latin typeface="Apple SD Gothic Neo"/>
                <a:ea typeface="Apple SD Gothic Neo"/>
              </a:rPr>
              <a:t>JWT 인증 · Google IdP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749039"/>
            <a:ext cx="1828800" cy="1005840"/>
          </a:xfrm>
          <a:prstGeom prst="roundRect">
            <a:avLst>
              <a:gd name="adj" fmla="val 15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3822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</a:rPr>
              <a:t>PostgreSQL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169663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1E1B4B"/>
                </a:solidFill>
                <a:latin typeface="Apple SD Gothic Neo"/>
                <a:ea typeface="Apple SD Gothic Neo"/>
              </a:rPr>
              <a:t>사용자·대화·오답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749039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3822191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</a:rPr>
              <a:t>Redis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169663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1E1B4B"/>
                </a:solidFill>
                <a:latin typeface="Apple SD Gothic Neo"/>
                <a:ea typeface="Apple SD Gothic Neo"/>
              </a:rPr>
              <a:t>캐시·세션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3749039"/>
            <a:ext cx="1828800" cy="1005840"/>
          </a:xfrm>
          <a:prstGeom prst="roundRect">
            <a:avLst>
              <a:gd name="adj" fmla="val 15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38221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1B4B"/>
                </a:solidFill>
                <a:latin typeface="Apple SD Gothic Neo"/>
                <a:ea typeface="Apple SD Gothic Neo"/>
              </a:rPr>
              <a:t>EC2 +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169663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1E1B4B"/>
                </a:solidFill>
                <a:latin typeface="Apple SD Gothic Neo"/>
                <a:ea typeface="Apple SD Gothic Neo"/>
              </a:rPr>
              <a:t>GitHub Actions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120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핵심 의사결정  </a:t>
            </a:r>
            <a:r>
              <a:rPr sz="1350" b="0">
                <a:solidFill>
                  <a:srgbClr val="1E1B4B"/>
                </a:solidFill>
                <a:latin typeface="Apple SD Gothic Neo"/>
                <a:ea typeface="Apple SD Gothic Neo"/>
              </a:rPr>
              <a:t>① SSE 스트리밍으로 AI 응답을 토큰 단위 전달 → 체감 대기시간 최소화   ② Bedrock 리전 분리로 모델 가용성 확보   ③ 인증은 Cognito에 위임해 보안 구현 비용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03 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React 18 · Vite · Playwright(E2E)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420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4203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Java 17 · Spring Boot 4 · Spring Security 7 · WebFlux(SSE) · JPA · Flyway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72384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638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6382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AWS Bedrock — Claude 3.5 Sonnet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8561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AWS Cognito (JWT, OAuth2 Resource Server) · Google 소셜 로그인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15968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0740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PostgreSQL 17 · Redis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3776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Infra / CI·CD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0292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AWS EC2 · Docker Compose · GitHub Actions 자동 배포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5955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509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Docs / 협업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6509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Swagger UI (springdoc-openapi) · GitHub Monorepo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04  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AI 대화 설계 — 페르소나와 난이도 제어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AI 친구 페르소나 프롬프트.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캐릭터별 성격·말투·관심사를 시스템 프롬프트로 정의 → 친구마다 다른 대화 경험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레벨별 응답 난이도 제어.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사용자 레벨(어휘·문장 길이·표현 복잡도)을 프롬프트에 주입해 응답 난이도를 동적으로 조절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교정 피드백 내장.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사용자의 문법·표현 오류를 감지하면 자연스럽게 교정하고, 오류 데이터는 오답노트로 적재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SSE 스트리밍.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Bedrock 응답을 WebFlux SSE로 토큰 단위 중계 → 첫 글자까지의 대기시간 단축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10607040" cy="146304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809744"/>
            <a:ext cx="10204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대화 → 평가 → 반영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5230368"/>
            <a:ext cx="102047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대화 종료(또는 일정 메시지 누적) 시 비동기로 레벨 평가 요청 → 평가 점수를 사용자 레벨에 반영 → 다음 대화부터 조정된 난이도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04 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인증 &amp; 보안 — AWS Cognito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JWT 기반 인증.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Spring Security OAuth2 Resource Server가 Cognito 발급 JWT를 검증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이메일 인증 회원가입.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표준 Cognito signUp → confirmSignUp 흐름으로 이메일 검증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Google 소셜 로그인.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Cognito Hosted UI에 Google IdP 페더레이션 — 백엔드 코드 변경 0줄로 연동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인증 책임 분리.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비밀번호 저장·토큰 발급·소셜 연동을 모두 Cognito에 위임 → 직접 구현 대비 보안 리스크 최소화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2011680" cy="86868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28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75504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로그인 요청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5102352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4754880"/>
            <a:ext cx="2377440" cy="86868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8280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Cognito Hosted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17550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Google IdP 선택 가능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5102352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4754880"/>
            <a:ext cx="2194560" cy="86868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8280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JWT 발급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75504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access / refresh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78240" y="5102352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0" y="4754880"/>
            <a:ext cx="2103120" cy="868680"/>
          </a:xfrm>
          <a:prstGeom prst="roundRect">
            <a:avLst>
              <a:gd name="adj" fmla="val 1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4828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API 호출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175504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Bearer 토큰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04 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배포 파이프라인 — GitHub Actions → EC2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103120" cy="96012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git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23744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main 브랜치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2487168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103120"/>
            <a:ext cx="2377440" cy="96012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762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2374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빌드 · 테스트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487168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103120"/>
            <a:ext cx="2377440" cy="96012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7627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EC2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23744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SSH · Docker Compose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2487168"/>
            <a:ext cx="457200" cy="25400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0" y="2103120"/>
            <a:ext cx="1828800" cy="960120"/>
          </a:xfrm>
          <a:prstGeom prst="roundRect">
            <a:avLst>
              <a:gd name="adj" fmla="val 1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1762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운영 반영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52374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pple SD Gothic Neo"/>
                <a:ea typeface="Apple SD Gothic Neo"/>
              </a:rPr>
              <a:t>무중단 재기동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Monorepo 통합.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프론트·백엔드·인프라 3개 저장소를 단일 monorepo로 통합해 배포 단일화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Docker Compose 운영.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app + PostgreSQL + Redis 3개 컨테이너 구성, 환경변수로 비밀값 분리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push 한 번으로 배포 완료.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수동 배포 과정 제거 → 시연 직전까지 안전하게 수정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05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품질 검증 — Playwright E2E 72건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4F46E5"/>
                </a:solidFill>
                <a:latin typeface="Apple SD Gothic Neo"/>
                <a:ea typeface="Apple SD Gothic Neo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전체 시나리오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0B981"/>
                </a:solidFill>
                <a:latin typeface="Apple SD Gothic Neo"/>
                <a:ea typeface="Apple SD Gothic Neo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7432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F4444"/>
                </a:solidFill>
                <a:latin typeface="Apple SD Gothic Neo"/>
                <a:ea typeface="Apple SD Gothic Neo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FAIL → 수정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8288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011680"/>
            <a:ext cx="2514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6B7280"/>
                </a:solidFill>
                <a:latin typeface="Apple SD Gothic Neo"/>
                <a:ea typeface="Apple SD Gothic Neo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743200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SKIP (환경 제약)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인증·홈·채팅·오답노트·친구·설정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전 영역을 시나리오 기반으로 검증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테스트로 발견 → 수정 → 재검증 사이클.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예: 오답 개수 API 500 에러를 E2E로 발견, 원인(dev 프로필 JWT 타입 불일치) 분석 후 수정</a:t>
            </a:r>
          </a:p>
          <a:p>
            <a:pPr>
              <a:spcAft>
                <a:spcPts val="1200"/>
              </a:spcAft>
            </a:pPr>
            <a:r>
              <a:rPr sz="155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550" b="1">
                <a:solidFill>
                  <a:srgbClr val="1E1B4B"/>
                </a:solidFill>
                <a:latin typeface="Apple SD Gothic Neo"/>
                <a:ea typeface="Apple SD Gothic Neo"/>
              </a:rPr>
              <a:t>회귀 방지.</a:t>
            </a:r>
            <a:r>
              <a:rPr sz="1550" b="0">
                <a:solidFill>
                  <a:srgbClr val="1E1B4B"/>
                </a:solidFill>
                <a:latin typeface="Apple SD Gothic Neo"/>
                <a:ea typeface="Apple SD Gothic Neo"/>
              </a:rPr>
              <a:t>  수정 후 동일 시나리오 재실행으로 사이드이펙트 없음을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05 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트러블슈팅 — 증상 · 원인 · 해결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레벨이 항상 그대로인 버그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증상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대화를 잘해도 레벨 변화 없음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원인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평가 점수 하드코딩(75) + 비동기 평가 결과 미반영 구조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해결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실제 평가 점수 사용 + 평가 완료 후 레벨 반영 흐름 재설계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dev 프로필 NPE (500 에러)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증상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오답노트 API가 500 반환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원인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@AuthenticationPrincipal Jwt — dev 모드에선 jwt=null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해결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Long userId로 시그니처 변경, dev/운영 동작 일치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5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11680"/>
            <a:ext cx="3154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Apple SD Gothic Neo"/>
                <a:ea typeface="Apple SD Gothic Neo"/>
              </a:rPr>
              <a:t>배포 시 컨테이너 이름 충돌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74320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증상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재배포마다 docker compose 기동 실패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원인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이전 컨테이너 잔존으로 이름 충돌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8B5CF6"/>
                </a:solidFill>
                <a:latin typeface="Apple SD Gothic Neo"/>
                <a:ea typeface="Apple SD Gothic Neo"/>
              </a:rPr>
              <a:t>해결  </a:t>
            </a:r>
            <a:r>
              <a:rPr sz="1250" b="0">
                <a:solidFill>
                  <a:srgbClr val="1E1B4B"/>
                </a:solidFill>
                <a:latin typeface="Apple SD Gothic Neo"/>
                <a:ea typeface="Apple SD Gothic Neo"/>
              </a:rPr>
              <a:t>배포 스크립트에 정리 단계 추가 → 반복 배포 안정화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06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라이브 시연 — 한 사용자의 학습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562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Google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01952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Cognito 페더레이션으로 간편 시작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542032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6946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홈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15184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통계 카드 · 오늘의 목표 · 오늘의 표현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255264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467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8269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AI 친구와 채팅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328416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일부러 틀린 문장 → 스트리밍 응답 + 교정 피드백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68496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599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9959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오답노트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04164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방금 틀린 표현이 자동으로 쌓인 것 확인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681728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731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709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커스텀 친구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548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나만의 AI 대화 상대 만들기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42239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B4B"/>
                </a:solidFill>
                <a:latin typeface="Apple SD Gothic Neo"/>
                <a:ea typeface="Apple SD Gothic Neo"/>
              </a:rPr>
              <a:t>홈 복귀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468112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</a:rPr>
              <a:t>목표 진행률·통계 자동 갱신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996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Apple SD Gothic Neo"/>
                <a:ea typeface="Apple SD Gothic Neo"/>
              </a:rPr>
              <a:t>※ </a:t>
            </a:r>
            <a:r>
              <a:rPr sz="1300" b="0">
                <a:solidFill>
                  <a:srgbClr val="6B7280"/>
                </a:solidFill>
                <a:latin typeface="Apple SD Gothic Neo"/>
                <a:ea typeface="Apple SD Gothic Neo"/>
              </a:rPr>
              <a:t>네트워크 장애 대비 시연 녹화 영상 백업 준비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B5CF6"/>
                </a:solidFill>
                <a:latin typeface="Apple SD Gothic Neo"/>
                <a:ea typeface="Apple SD Gothic Neo"/>
              </a:rPr>
              <a:t>07  RETROSPECT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1B4B"/>
                </a:solidFill>
                <a:latin typeface="Apple SD Gothic Neo"/>
                <a:ea typeface="Apple SD Gothic Neo"/>
              </a:rPr>
              <a:t>회고 &amp;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01168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Apple SD Gothic Neo"/>
                <a:ea typeface="Apple SD Gothic Neo"/>
              </a:rPr>
              <a:t>배운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LLM 프롬프트 설계 — 페르소나·난이도를 프롬프트로 제어하는 경험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Cognito·Bedrock 등 관리형 서비스로 개발 속도와 보안 양립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E2E 테스트가 실제 버그를 찾아내는 과정 체득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monorepo + GitHub Actions로 배포 자동화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Apple SD Gothic Neo"/>
                <a:ea typeface="Apple SD Gothic Neo"/>
              </a:rPr>
              <a:t>향후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음성 대화 — STT/TTS로 실제 말하기 연습 지원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주간 학습 리포트 — 레벨 추이·취약 표현 분석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오답 기반 복습 퀴즈 자동 생성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Apple SD Gothic Neo"/>
                <a:ea typeface="Apple SD Gothic Neo"/>
              </a:rPr>
              <a:t>▪  </a:t>
            </a:r>
            <a:r>
              <a:rPr sz="1400" b="0">
                <a:solidFill>
                  <a:srgbClr val="1E1B4B"/>
                </a:solidFill>
                <a:latin typeface="Apple SD Gothic Neo"/>
                <a:ea typeface="Apple SD Gothic Neo"/>
              </a:rPr>
              <a:t>친구(페르소나) 마켓플레이스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28800"/>
            <a:ext cx="25400" cy="36576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pple SD Gothic Neo"/>
                <a:ea typeface="Apple SD Gothic Neo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7C5E8"/>
                </a:solidFill>
                <a:latin typeface="Apple SD Gothic Neo"/>
                <a:ea typeface="Apple SD Gothic Neo"/>
              </a:rPr>
              <a:t>감사합니다 — Fluento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